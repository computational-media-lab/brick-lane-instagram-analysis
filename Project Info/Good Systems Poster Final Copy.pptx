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comments/modernComment_130_8FC2C0DB.xml" ContentType="application/vnd.ms-powerpoint.comments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2" r:id="rId1"/>
    <p:sldMasterId id="2147483664" r:id="rId2"/>
  </p:sldMasterIdLst>
  <p:sldIdLst>
    <p:sldId id="304" r:id="rId3"/>
  </p:sldIdLst>
  <p:sldSz cx="43891200" cy="32004000"/>
  <p:notesSz cx="6858000" cy="9144000"/>
  <p:defaultTextStyle>
    <a:defPPr>
      <a:defRPr lang="en-US"/>
    </a:defPPr>
    <a:lvl1pPr marL="0" algn="l" defTabSz="3642803" rtl="0" eaLnBrk="1" latinLnBrk="0" hangingPunct="1">
      <a:defRPr sz="7171" kern="1200">
        <a:solidFill>
          <a:schemeClr val="tx1"/>
        </a:solidFill>
        <a:latin typeface="+mn-lt"/>
        <a:ea typeface="+mn-ea"/>
        <a:cs typeface="+mn-cs"/>
      </a:defRPr>
    </a:lvl1pPr>
    <a:lvl2pPr marL="1821402" algn="l" defTabSz="3642803" rtl="0" eaLnBrk="1" latinLnBrk="0" hangingPunct="1">
      <a:defRPr sz="7171" kern="1200">
        <a:solidFill>
          <a:schemeClr val="tx1"/>
        </a:solidFill>
        <a:latin typeface="+mn-lt"/>
        <a:ea typeface="+mn-ea"/>
        <a:cs typeface="+mn-cs"/>
      </a:defRPr>
    </a:lvl2pPr>
    <a:lvl3pPr marL="3642803" algn="l" defTabSz="3642803" rtl="0" eaLnBrk="1" latinLnBrk="0" hangingPunct="1">
      <a:defRPr sz="7171" kern="1200">
        <a:solidFill>
          <a:schemeClr val="tx1"/>
        </a:solidFill>
        <a:latin typeface="+mn-lt"/>
        <a:ea typeface="+mn-ea"/>
        <a:cs typeface="+mn-cs"/>
      </a:defRPr>
    </a:lvl3pPr>
    <a:lvl4pPr marL="5464204" algn="l" defTabSz="3642803" rtl="0" eaLnBrk="1" latinLnBrk="0" hangingPunct="1">
      <a:defRPr sz="7171" kern="1200">
        <a:solidFill>
          <a:schemeClr val="tx1"/>
        </a:solidFill>
        <a:latin typeface="+mn-lt"/>
        <a:ea typeface="+mn-ea"/>
        <a:cs typeface="+mn-cs"/>
      </a:defRPr>
    </a:lvl4pPr>
    <a:lvl5pPr marL="7285605" algn="l" defTabSz="3642803" rtl="0" eaLnBrk="1" latinLnBrk="0" hangingPunct="1">
      <a:defRPr sz="7171" kern="1200">
        <a:solidFill>
          <a:schemeClr val="tx1"/>
        </a:solidFill>
        <a:latin typeface="+mn-lt"/>
        <a:ea typeface="+mn-ea"/>
        <a:cs typeface="+mn-cs"/>
      </a:defRPr>
    </a:lvl5pPr>
    <a:lvl6pPr marL="9107007" algn="l" defTabSz="3642803" rtl="0" eaLnBrk="1" latinLnBrk="0" hangingPunct="1">
      <a:defRPr sz="7171" kern="1200">
        <a:solidFill>
          <a:schemeClr val="tx1"/>
        </a:solidFill>
        <a:latin typeface="+mn-lt"/>
        <a:ea typeface="+mn-ea"/>
        <a:cs typeface="+mn-cs"/>
      </a:defRPr>
    </a:lvl6pPr>
    <a:lvl7pPr marL="10928409" algn="l" defTabSz="3642803" rtl="0" eaLnBrk="1" latinLnBrk="0" hangingPunct="1">
      <a:defRPr sz="7171" kern="1200">
        <a:solidFill>
          <a:schemeClr val="tx1"/>
        </a:solidFill>
        <a:latin typeface="+mn-lt"/>
        <a:ea typeface="+mn-ea"/>
        <a:cs typeface="+mn-cs"/>
      </a:defRPr>
    </a:lvl7pPr>
    <a:lvl8pPr marL="12749810" algn="l" defTabSz="3642803" rtl="0" eaLnBrk="1" latinLnBrk="0" hangingPunct="1">
      <a:defRPr sz="7171" kern="1200">
        <a:solidFill>
          <a:schemeClr val="tx1"/>
        </a:solidFill>
        <a:latin typeface="+mn-lt"/>
        <a:ea typeface="+mn-ea"/>
        <a:cs typeface="+mn-cs"/>
      </a:defRPr>
    </a:lvl8pPr>
    <a:lvl9pPr marL="14571211" algn="l" defTabSz="3642803" rtl="0" eaLnBrk="1" latinLnBrk="0" hangingPunct="1">
      <a:defRPr sz="717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A7B76B8-4255-C538-DBCF-679FD686D13C}" name="Dhiraj Murthy" initials="" userId="S::dmurt013@campus.goldsmiths.ac.uk::2d08888c-5e91-4b35-be3b-f777c31a421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5700"/>
    <a:srgbClr val="005F86"/>
    <a:srgbClr val="333F48"/>
    <a:srgbClr val="00A9B7"/>
    <a:srgbClr val="0177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88"/>
    <p:restoredTop sz="96301"/>
  </p:normalViewPr>
  <p:slideViewPr>
    <p:cSldViewPr snapToGrid="0" snapToObjects="1" showGuides="1">
      <p:cViewPr varScale="1">
        <p:scale>
          <a:sx n="21" d="100"/>
          <a:sy n="21" d="100"/>
        </p:scale>
        <p:origin x="8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ali Hornick" userId="4ea010826a49c103" providerId="LiveId" clId="{97917B7B-89DF-4C25-BC30-ED1B20D56C85}"/>
    <pc:docChg chg="modSld">
      <pc:chgData name="Sonali Hornick" userId="4ea010826a49c103" providerId="LiveId" clId="{97917B7B-89DF-4C25-BC30-ED1B20D56C85}" dt="2025-03-24T20:27:53.523" v="134" actId="20577"/>
      <pc:docMkLst>
        <pc:docMk/>
      </pc:docMkLst>
      <pc:sldChg chg="modSp mod modCm">
        <pc:chgData name="Sonali Hornick" userId="4ea010826a49c103" providerId="LiveId" clId="{97917B7B-89DF-4C25-BC30-ED1B20D56C85}" dt="2025-03-24T20:27:53.523" v="134" actId="20577"/>
        <pc:sldMkLst>
          <pc:docMk/>
          <pc:sldMk cId="2411905243" sldId="304"/>
        </pc:sldMkLst>
        <pc:spChg chg="mod">
          <ac:chgData name="Sonali Hornick" userId="4ea010826a49c103" providerId="LiveId" clId="{97917B7B-89DF-4C25-BC30-ED1B20D56C85}" dt="2025-03-24T20:15:52.318" v="124" actId="1076"/>
          <ac:spMkLst>
            <pc:docMk/>
            <pc:sldMk cId="2411905243" sldId="304"/>
            <ac:spMk id="3" creationId="{6E529CA6-8AA8-C4E9-5CE9-865FA9B2E7EE}"/>
          </ac:spMkLst>
        </pc:spChg>
        <pc:spChg chg="mod">
          <ac:chgData name="Sonali Hornick" userId="4ea010826a49c103" providerId="LiveId" clId="{97917B7B-89DF-4C25-BC30-ED1B20D56C85}" dt="2025-03-24T20:27:53.523" v="134" actId="20577"/>
          <ac:spMkLst>
            <pc:docMk/>
            <pc:sldMk cId="2411905243" sldId="304"/>
            <ac:spMk id="38" creationId="{4D8B2B7F-9268-CF4B-9238-2E4408E5C027}"/>
          </ac:spMkLst>
        </pc:spChg>
        <pc:spChg chg="mod">
          <ac:chgData name="Sonali Hornick" userId="4ea010826a49c103" providerId="LiveId" clId="{97917B7B-89DF-4C25-BC30-ED1B20D56C85}" dt="2025-03-24T20:26:32.124" v="133" actId="20577"/>
          <ac:spMkLst>
            <pc:docMk/>
            <pc:sldMk cId="2411905243" sldId="304"/>
            <ac:spMk id="43" creationId="{B0204F50-3E47-F047-B2D0-7F8B7F1D17A8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Sonali Hornick" userId="4ea010826a49c103" providerId="LiveId" clId="{97917B7B-89DF-4C25-BC30-ED1B20D56C85}" dt="2025-03-24T20:26:32.124" v="133" actId="20577"/>
              <pc2:cmMkLst xmlns:pc2="http://schemas.microsoft.com/office/powerpoint/2019/9/main/command">
                <pc:docMk/>
                <pc:sldMk cId="2411905243" sldId="304"/>
                <pc2:cmMk id="{21C33464-4F2E-F442-9031-D4A046FF969C}"/>
              </pc2:cmMkLst>
            </pc226:cmChg>
          </p:ext>
        </pc:extLst>
      </pc:sldChg>
    </pc:docChg>
  </pc:docChgLst>
</pc:chgInfo>
</file>

<file path=ppt/comments/modernComment_130_8FC2C0D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1C33464-4F2E-F442-9031-D4A046FF969C}" authorId="{CA7B76B8-4255-C538-DBCF-679FD686D13C}" status="resolved" created="2025-03-24T17:35:18.804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411905243" sldId="304"/>
      <ac:spMk id="43" creationId="{B0204F50-3E47-F047-B2D0-7F8B7F1D17A8}"/>
      <ac:txMk cp="595">
        <ac:context len="877" hash="3586299005"/>
      </ac:txMk>
    </ac:txMkLst>
    <p188:pos x="8309139" y="7338623"/>
    <p188:txBody>
      <a:bodyPr/>
      <a:lstStyle/>
      <a:p>
        <a:r>
          <a:rPr lang="en-US"/>
          <a:t>Not quite sure what you mean by this. Perhaps clarify before you do final printing.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5184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COLUMN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0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6783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761970" rtl="0" eaLnBrk="1" latinLnBrk="0" hangingPunct="1">
        <a:lnSpc>
          <a:spcPct val="90000"/>
        </a:lnSpc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0492" indent="-190492" algn="l" defTabSz="761970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2333" kern="1200">
          <a:solidFill>
            <a:schemeClr val="tx1"/>
          </a:solidFill>
          <a:latin typeface="+mn-lt"/>
          <a:ea typeface="+mn-ea"/>
          <a:cs typeface="+mn-cs"/>
        </a:defRPr>
      </a:lvl1pPr>
      <a:lvl2pPr marL="571477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20" userDrawn="1">
          <p15:clr>
            <a:srgbClr val="F26B43"/>
          </p15:clr>
        </p15:guide>
        <p15:guide id="2" pos="741" userDrawn="1">
          <p15:clr>
            <a:srgbClr val="F26B43"/>
          </p15:clr>
        </p15:guide>
        <p15:guide id="3" pos="1111" userDrawn="1">
          <p15:clr>
            <a:srgbClr val="F26B43"/>
          </p15:clr>
        </p15:guide>
        <p15:guide id="4" pos="6439" userDrawn="1">
          <p15:clr>
            <a:srgbClr val="F26B43"/>
          </p15:clr>
        </p15:guide>
        <p15:guide id="5" pos="7426" userDrawn="1">
          <p15:clr>
            <a:srgbClr val="F26B43"/>
          </p15:clr>
        </p15:guide>
        <p15:guide id="6" pos="7797" userDrawn="1">
          <p15:clr>
            <a:srgbClr val="F26B43"/>
          </p15:clr>
        </p15:guide>
        <p15:guide id="7" pos="13125" userDrawn="1">
          <p15:clr>
            <a:srgbClr val="F26B43"/>
          </p15:clr>
        </p15:guide>
        <p15:guide id="8" pos="6809" userDrawn="1">
          <p15:clr>
            <a:srgbClr val="F26B43"/>
          </p15:clr>
        </p15:guide>
        <p15:guide id="9" pos="13515" userDrawn="1">
          <p15:clr>
            <a:srgbClr val="F26B43"/>
          </p15:clr>
        </p15:guide>
        <p15:guide id="10" pos="14133" userDrawn="1">
          <p15:clr>
            <a:srgbClr val="F26B43"/>
          </p15:clr>
        </p15:guide>
        <p15:guide id="11" pos="14503" userDrawn="1">
          <p15:clr>
            <a:srgbClr val="F26B43"/>
          </p15:clr>
        </p15:guide>
        <p15:guide id="12" pos="19831" userDrawn="1">
          <p15:clr>
            <a:srgbClr val="F26B43"/>
          </p15:clr>
        </p15:guide>
        <p15:guide id="13" pos="20201" userDrawn="1">
          <p15:clr>
            <a:srgbClr val="F26B43"/>
          </p15:clr>
        </p15:guide>
        <p15:guide id="14" pos="20818" userDrawn="1">
          <p15:clr>
            <a:srgbClr val="F26B43"/>
          </p15:clr>
        </p15:guide>
        <p15:guide id="15" pos="21189" userDrawn="1">
          <p15:clr>
            <a:srgbClr val="F26B43"/>
          </p15:clr>
        </p15:guide>
        <p15:guide id="16" pos="26537" userDrawn="1">
          <p15:clr>
            <a:srgbClr val="F26B43"/>
          </p15:clr>
        </p15:guide>
        <p15:guide id="17" pos="26907" userDrawn="1">
          <p15:clr>
            <a:srgbClr val="F26B43"/>
          </p15:clr>
        </p15:guide>
        <p15:guide id="18" orient="horz" pos="960" userDrawn="1">
          <p15:clr>
            <a:srgbClr val="F26B43"/>
          </p15:clr>
        </p15:guide>
        <p15:guide id="19" orient="horz" pos="3600" userDrawn="1">
          <p15:clr>
            <a:srgbClr val="F26B43"/>
          </p15:clr>
        </p15:guide>
        <p15:guide id="20" orient="horz" pos="3360" userDrawn="1">
          <p15:clr>
            <a:srgbClr val="F26B43"/>
          </p15:clr>
        </p15:guide>
        <p15:guide id="21" orient="horz" pos="4320" userDrawn="1">
          <p15:clr>
            <a:srgbClr val="F26B43"/>
          </p15:clr>
        </p15:guide>
        <p15:guide id="22" orient="horz" pos="4560" userDrawn="1">
          <p15:clr>
            <a:srgbClr val="F26B43"/>
          </p15:clr>
        </p15:guide>
        <p15:guide id="23" orient="horz" pos="19440" userDrawn="1">
          <p15:clr>
            <a:srgbClr val="F26B43"/>
          </p15:clr>
        </p15:guide>
        <p15:guide id="24" orient="horz" pos="1920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2670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761970" rtl="0" eaLnBrk="1" latinLnBrk="0" hangingPunct="1">
        <a:lnSpc>
          <a:spcPct val="90000"/>
        </a:lnSpc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0492" indent="-190492" algn="l" defTabSz="761970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2333" kern="1200">
          <a:solidFill>
            <a:schemeClr val="tx1"/>
          </a:solidFill>
          <a:latin typeface="+mn-lt"/>
          <a:ea typeface="+mn-ea"/>
          <a:cs typeface="+mn-cs"/>
        </a:defRPr>
      </a:lvl1pPr>
      <a:lvl2pPr marL="571477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20" userDrawn="1">
          <p15:clr>
            <a:srgbClr val="F26B43"/>
          </p15:clr>
        </p15:guide>
        <p15:guide id="2" pos="741" userDrawn="1">
          <p15:clr>
            <a:srgbClr val="F26B43"/>
          </p15:clr>
        </p15:guide>
        <p15:guide id="3" pos="1111" userDrawn="1">
          <p15:clr>
            <a:srgbClr val="F26B43"/>
          </p15:clr>
        </p15:guide>
        <p15:guide id="4" pos="7406" userDrawn="1">
          <p15:clr>
            <a:srgbClr val="F26B43"/>
          </p15:clr>
        </p15:guide>
        <p15:guide id="5" pos="7776" userDrawn="1">
          <p15:clr>
            <a:srgbClr val="F26B43"/>
          </p15:clr>
        </p15:guide>
        <p15:guide id="6" pos="8393" userDrawn="1">
          <p15:clr>
            <a:srgbClr val="F26B43"/>
          </p15:clr>
        </p15:guide>
        <p15:guide id="7" pos="8763" userDrawn="1">
          <p15:clr>
            <a:srgbClr val="F26B43"/>
          </p15:clr>
        </p15:guide>
        <p15:guide id="8" pos="18885" userDrawn="1">
          <p15:clr>
            <a:srgbClr val="F26B43"/>
          </p15:clr>
        </p15:guide>
        <p15:guide id="9" pos="19234" userDrawn="1">
          <p15:clr>
            <a:srgbClr val="F26B43"/>
          </p15:clr>
        </p15:guide>
        <p15:guide id="10" pos="19872" userDrawn="1">
          <p15:clr>
            <a:srgbClr val="F26B43"/>
          </p15:clr>
        </p15:guide>
        <p15:guide id="11" pos="20242" userDrawn="1">
          <p15:clr>
            <a:srgbClr val="F26B43"/>
          </p15:clr>
        </p15:guide>
        <p15:guide id="12" pos="26537" userDrawn="1">
          <p15:clr>
            <a:srgbClr val="F26B43"/>
          </p15:clr>
        </p15:guide>
        <p15:guide id="13" pos="26907" userDrawn="1">
          <p15:clr>
            <a:srgbClr val="F26B43"/>
          </p15:clr>
        </p15:guide>
        <p15:guide id="14" orient="horz" pos="960" userDrawn="1">
          <p15:clr>
            <a:srgbClr val="F26B43"/>
          </p15:clr>
        </p15:guide>
        <p15:guide id="15" orient="horz" pos="3360" userDrawn="1">
          <p15:clr>
            <a:srgbClr val="F26B43"/>
          </p15:clr>
        </p15:guide>
        <p15:guide id="16" orient="horz" pos="3600" userDrawn="1">
          <p15:clr>
            <a:srgbClr val="F26B43"/>
          </p15:clr>
        </p15:guide>
        <p15:guide id="17" orient="horz" pos="4320" userDrawn="1">
          <p15:clr>
            <a:srgbClr val="F26B43"/>
          </p15:clr>
        </p15:guide>
        <p15:guide id="18" orient="horz" pos="4560" userDrawn="1">
          <p15:clr>
            <a:srgbClr val="F26B43"/>
          </p15:clr>
        </p15:guide>
        <p15:guide id="19" orient="horz" pos="19440" userDrawn="1">
          <p15:clr>
            <a:srgbClr val="F26B43"/>
          </p15:clr>
        </p15:guide>
        <p15:guide id="20" orient="horz" pos="1920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microsoft.com/office/2018/10/relationships/comments" Target="../comments/modernComment_130_8FC2C0DB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6CCC9FD2-2D31-614C-9866-71CB153F7003}"/>
              </a:ext>
            </a:extLst>
          </p:cNvPr>
          <p:cNvSpPr txBox="1"/>
          <p:nvPr/>
        </p:nvSpPr>
        <p:spPr>
          <a:xfrm>
            <a:off x="33685352" y="20943115"/>
            <a:ext cx="8678862" cy="54333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70" dirty="0"/>
              <a:t>• Expanding data analysis to include additional global urban cultural centers for comparative insights </a:t>
            </a:r>
          </a:p>
          <a:p>
            <a:r>
              <a:rPr lang="en-US" sz="2670" dirty="0"/>
              <a:t>• Conducting qualitative research on public perceptions of GenAI-driven cultural analysis and related privacy concerns</a:t>
            </a:r>
          </a:p>
          <a:p>
            <a:r>
              <a:rPr lang="en-US" sz="2670" dirty="0"/>
              <a:t>• Developing refined ethical guidelines and privacy standards to guide responsible GenAI deployment for studying social media</a:t>
            </a:r>
          </a:p>
          <a:p>
            <a:r>
              <a:rPr lang="en-US" sz="2670" dirty="0"/>
              <a:t>• Performing longitudinal studies to track the evolution of GenAI biases and ethical issues over time </a:t>
            </a:r>
          </a:p>
          <a:p>
            <a:r>
              <a:rPr lang="en-US" sz="2670" dirty="0"/>
              <a:t>• Engaging multidisciplinary collaborations with GenAI developers, urban scholars, cultural experts, and policymakers to create inclusive GenAI frameworks</a:t>
            </a:r>
          </a:p>
          <a:p>
            <a:endParaRPr lang="en-US" sz="26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A383F541-946D-D243-A427-A19CCEAE5721}"/>
              </a:ext>
            </a:extLst>
          </p:cNvPr>
          <p:cNvSpPr/>
          <p:nvPr/>
        </p:nvSpPr>
        <p:spPr>
          <a:xfrm>
            <a:off x="1176338" y="7273282"/>
            <a:ext cx="9581091" cy="8383363"/>
          </a:xfrm>
          <a:prstGeom prst="roundRect">
            <a:avLst>
              <a:gd name="adj" fmla="val 7577"/>
            </a:avLst>
          </a:prstGeom>
          <a:noFill/>
          <a:ln w="101600">
            <a:solidFill>
              <a:srgbClr val="BF57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976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C11B6D1-1527-3346-87C7-47EBD5A34BD0}"/>
              </a:ext>
            </a:extLst>
          </p:cNvPr>
          <p:cNvSpPr/>
          <p:nvPr/>
        </p:nvSpPr>
        <p:spPr>
          <a:xfrm>
            <a:off x="1176336" y="16747103"/>
            <a:ext cx="9650410" cy="3548152"/>
          </a:xfrm>
          <a:prstGeom prst="roundRect">
            <a:avLst>
              <a:gd name="adj" fmla="val 17736"/>
            </a:avLst>
          </a:prstGeom>
          <a:noFill/>
          <a:ln w="101600">
            <a:solidFill>
              <a:srgbClr val="BF57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976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A51F871C-9A06-BE4E-BC12-0BB7624C01BD}"/>
              </a:ext>
            </a:extLst>
          </p:cNvPr>
          <p:cNvSpPr/>
          <p:nvPr/>
        </p:nvSpPr>
        <p:spPr>
          <a:xfrm>
            <a:off x="1176338" y="21101655"/>
            <a:ext cx="9581091" cy="9759346"/>
          </a:xfrm>
          <a:prstGeom prst="roundRect">
            <a:avLst>
              <a:gd name="adj" fmla="val 6325"/>
            </a:avLst>
          </a:prstGeom>
          <a:noFill/>
          <a:ln w="101600">
            <a:solidFill>
              <a:srgbClr val="BF57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976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B75AC27A-FBCD-EE48-B6FE-09E481A25925}"/>
              </a:ext>
            </a:extLst>
          </p:cNvPr>
          <p:cNvSpPr/>
          <p:nvPr/>
        </p:nvSpPr>
        <p:spPr>
          <a:xfrm>
            <a:off x="11788775" y="7239000"/>
            <a:ext cx="20280313" cy="23622000"/>
          </a:xfrm>
          <a:prstGeom prst="roundRect">
            <a:avLst>
              <a:gd name="adj" fmla="val 2821"/>
            </a:avLst>
          </a:prstGeom>
          <a:noFill/>
          <a:ln w="101600">
            <a:solidFill>
              <a:srgbClr val="BF57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976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4101E1B-E32F-CD46-8DA1-E347D7B6FDAB}"/>
              </a:ext>
            </a:extLst>
          </p:cNvPr>
          <p:cNvSpPr/>
          <p:nvPr/>
        </p:nvSpPr>
        <p:spPr>
          <a:xfrm>
            <a:off x="33031117" y="7239000"/>
            <a:ext cx="9683747" cy="11992897"/>
          </a:xfrm>
          <a:prstGeom prst="roundRect">
            <a:avLst>
              <a:gd name="adj" fmla="val 6326"/>
            </a:avLst>
          </a:prstGeom>
          <a:noFill/>
          <a:ln w="101600">
            <a:solidFill>
              <a:srgbClr val="BF57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976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FF40C643-D9D9-8442-BE36-0266166A6CEE}"/>
              </a:ext>
            </a:extLst>
          </p:cNvPr>
          <p:cNvSpPr/>
          <p:nvPr/>
        </p:nvSpPr>
        <p:spPr>
          <a:xfrm>
            <a:off x="33312259" y="20161173"/>
            <a:ext cx="9402603" cy="5972969"/>
          </a:xfrm>
          <a:prstGeom prst="roundRect">
            <a:avLst>
              <a:gd name="adj" fmla="val 10224"/>
            </a:avLst>
          </a:prstGeom>
          <a:noFill/>
          <a:ln w="101600">
            <a:solidFill>
              <a:srgbClr val="BF57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976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C3D54418-6D46-B442-AFD3-C141D3EC48C5}"/>
              </a:ext>
            </a:extLst>
          </p:cNvPr>
          <p:cNvSpPr/>
          <p:nvPr/>
        </p:nvSpPr>
        <p:spPr>
          <a:xfrm>
            <a:off x="2207684" y="6858001"/>
            <a:ext cx="7577667" cy="1170214"/>
          </a:xfrm>
          <a:prstGeom prst="roundRect">
            <a:avLst/>
          </a:prstGeom>
          <a:solidFill>
            <a:srgbClr val="BF5700"/>
          </a:solidFill>
          <a:ln w="101600">
            <a:solidFill>
              <a:srgbClr val="BF57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en-US" sz="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C7B1EBD2-F6E9-ED49-B949-4053B41F4B64}"/>
              </a:ext>
            </a:extLst>
          </p:cNvPr>
          <p:cNvSpPr/>
          <p:nvPr/>
        </p:nvSpPr>
        <p:spPr>
          <a:xfrm>
            <a:off x="2207684" y="16203774"/>
            <a:ext cx="7577667" cy="1170214"/>
          </a:xfrm>
          <a:prstGeom prst="roundRect">
            <a:avLst/>
          </a:prstGeom>
          <a:solidFill>
            <a:srgbClr val="BF5700"/>
          </a:solidFill>
          <a:ln w="101600">
            <a:solidFill>
              <a:srgbClr val="BF57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b="1" dirty="0">
                <a:latin typeface="Arial" panose="020B0604020202020204" pitchFamily="34" charset="0"/>
                <a:cs typeface="Arial" panose="020B0604020202020204" pitchFamily="34" charset="0"/>
              </a:rPr>
              <a:t>Research Goals</a:t>
            </a:r>
            <a:endParaRPr lang="en-US" sz="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7068C3E8-6F07-5946-BA66-9C97B12AC7D3}"/>
              </a:ext>
            </a:extLst>
          </p:cNvPr>
          <p:cNvSpPr/>
          <p:nvPr/>
        </p:nvSpPr>
        <p:spPr>
          <a:xfrm>
            <a:off x="2207684" y="20612819"/>
            <a:ext cx="7577667" cy="1170214"/>
          </a:xfrm>
          <a:prstGeom prst="roundRect">
            <a:avLst/>
          </a:prstGeom>
          <a:solidFill>
            <a:srgbClr val="BF5700"/>
          </a:solidFill>
          <a:ln w="101600">
            <a:solidFill>
              <a:srgbClr val="BF57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b="1" dirty="0">
                <a:latin typeface="Arial" panose="020B0604020202020204" pitchFamily="34" charset="0"/>
                <a:cs typeface="Arial" panose="020B0604020202020204" pitchFamily="34" charset="0"/>
              </a:rPr>
              <a:t>Methods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95D9418A-8071-5A43-8AA5-2DDFDE97B440}"/>
              </a:ext>
            </a:extLst>
          </p:cNvPr>
          <p:cNvSpPr/>
          <p:nvPr/>
        </p:nvSpPr>
        <p:spPr>
          <a:xfrm>
            <a:off x="18156767" y="6858001"/>
            <a:ext cx="7577667" cy="1170214"/>
          </a:xfrm>
          <a:prstGeom prst="roundRect">
            <a:avLst/>
          </a:prstGeom>
          <a:solidFill>
            <a:srgbClr val="BF5700"/>
          </a:solidFill>
          <a:ln w="101600">
            <a:solidFill>
              <a:srgbClr val="BF57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b="1" dirty="0">
                <a:latin typeface="Arial" panose="020B0604020202020204" pitchFamily="34" charset="0"/>
                <a:cs typeface="Arial" panose="020B0604020202020204" pitchFamily="34" charset="0"/>
              </a:rPr>
              <a:t>Project Overview</a:t>
            </a:r>
            <a:endParaRPr lang="en-US" sz="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5ACE33C1-A4C6-FF41-BC24-C727DE341917}"/>
              </a:ext>
            </a:extLst>
          </p:cNvPr>
          <p:cNvSpPr/>
          <p:nvPr/>
        </p:nvSpPr>
        <p:spPr>
          <a:xfrm>
            <a:off x="34105849" y="6594594"/>
            <a:ext cx="7577667" cy="1170214"/>
          </a:xfrm>
          <a:prstGeom prst="roundRect">
            <a:avLst/>
          </a:prstGeom>
          <a:solidFill>
            <a:srgbClr val="BF5700"/>
          </a:solidFill>
          <a:ln w="101600">
            <a:solidFill>
              <a:srgbClr val="BF57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b="1" dirty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endParaRPr lang="en-US" sz="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DF927006-83B7-BC47-9CE5-C6265D19A61D}"/>
              </a:ext>
            </a:extLst>
          </p:cNvPr>
          <p:cNvSpPr/>
          <p:nvPr/>
        </p:nvSpPr>
        <p:spPr>
          <a:xfrm>
            <a:off x="34084156" y="19576066"/>
            <a:ext cx="7577667" cy="1170214"/>
          </a:xfrm>
          <a:prstGeom prst="roundRect">
            <a:avLst/>
          </a:prstGeom>
          <a:solidFill>
            <a:srgbClr val="BF5700"/>
          </a:solidFill>
          <a:ln w="101600">
            <a:solidFill>
              <a:srgbClr val="BF57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b="1" dirty="0">
                <a:latin typeface="Arial" panose="020B0604020202020204" pitchFamily="34" charset="0"/>
                <a:cs typeface="Arial" panose="020B0604020202020204" pitchFamily="34" charset="0"/>
              </a:rPr>
              <a:t>Future Work</a:t>
            </a:r>
            <a:endParaRPr lang="en-US" sz="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D8B2B7F-9268-CF4B-9238-2E4408E5C027}"/>
              </a:ext>
            </a:extLst>
          </p:cNvPr>
          <p:cNvSpPr txBox="1"/>
          <p:nvPr/>
        </p:nvSpPr>
        <p:spPr>
          <a:xfrm>
            <a:off x="1660051" y="8075124"/>
            <a:ext cx="8613664" cy="7899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670" b="1" dirty="0"/>
              <a:t>Introduction</a:t>
            </a:r>
          </a:p>
          <a:p>
            <a:pPr>
              <a:buNone/>
            </a:pPr>
            <a:r>
              <a:rPr lang="en-US" sz="2670" dirty="0"/>
              <a:t>• The rise of generative artificial intelligence (GenAI) in analyzing location-based social media platforms presents new ethical and privacy challenges </a:t>
            </a:r>
          </a:p>
          <a:p>
            <a:pPr>
              <a:buNone/>
            </a:pPr>
            <a:r>
              <a:rPr lang="en-US" sz="2670" dirty="0"/>
              <a:t>• Biases and limitations exist when AI processes diverse cultural expressions (Binns et al., 2018; Noble, 2018). </a:t>
            </a:r>
          </a:p>
          <a:p>
            <a:pPr>
              <a:buNone/>
            </a:pPr>
            <a:r>
              <a:rPr lang="en-US" sz="2670" dirty="0"/>
              <a:t>• Urban social media content provide a culturally diverse environment to ethically investigate AI’s ability to study social media with significant personal metadata</a:t>
            </a:r>
          </a:p>
          <a:p>
            <a:pPr>
              <a:buNone/>
            </a:pPr>
            <a:r>
              <a:rPr lang="en-US" sz="2670" dirty="0"/>
              <a:t> • London's East End has a notable street art scene (Schacter, 2013), unique and diverse fashion culture (Rocamora, 2016), and dynamic urban aesthetics influenced by multicultural interactions (Miles, 2018), making it an ideal case study </a:t>
            </a:r>
          </a:p>
          <a:p>
            <a:pPr>
              <a:buNone/>
            </a:pPr>
            <a:r>
              <a:rPr lang="en-US" sz="2670" dirty="0"/>
              <a:t>• This research employs GenAI techniques to critically analyze Instagram posts from Brick Lane, East </a:t>
            </a:r>
            <a:r>
              <a:rPr lang="en-US" sz="2670"/>
              <a:t>London to </a:t>
            </a:r>
            <a:r>
              <a:rPr lang="en-US" sz="2670" dirty="0"/>
              <a:t>identify and mitigate inherent biases, examine ethical dilemmas related to AI deployment, explore privacy implications, and establish robust data protection measures</a:t>
            </a:r>
          </a:p>
          <a:p>
            <a:pPr>
              <a:buNone/>
            </a:pPr>
            <a:endParaRPr lang="en-US" sz="267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1E8C03D-AFB7-624B-BBFF-08ECD99A7A94}"/>
              </a:ext>
            </a:extLst>
          </p:cNvPr>
          <p:cNvSpPr txBox="1"/>
          <p:nvPr/>
        </p:nvSpPr>
        <p:spPr>
          <a:xfrm>
            <a:off x="1772573" y="17532207"/>
            <a:ext cx="8613664" cy="2557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70" dirty="0"/>
              <a:t>RQ1 Can Generative AI models successfully classify and interpret visual social media from London's Brick Lane?</a:t>
            </a:r>
          </a:p>
          <a:p>
            <a:r>
              <a:rPr lang="en-US" sz="2670" dirty="0"/>
              <a:t>RQ2 What biases and limitations are present in GenAI's processing of street art and cultural aesthetics?</a:t>
            </a:r>
          </a:p>
          <a:p>
            <a:r>
              <a:rPr lang="en-US" sz="2670" dirty="0"/>
              <a:t>RQ3 What are the ethical implications and privacy concerns related to GenAI use in location-based social media analysis?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0204F50-3E47-F047-B2D0-7F8B7F1D17A8}"/>
              </a:ext>
            </a:extLst>
          </p:cNvPr>
          <p:cNvSpPr txBox="1"/>
          <p:nvPr/>
        </p:nvSpPr>
        <p:spPr>
          <a:xfrm>
            <a:off x="1660051" y="22100597"/>
            <a:ext cx="8613664" cy="830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670" b="1" dirty="0"/>
              <a:t>Data Collection</a:t>
            </a:r>
          </a:p>
          <a:p>
            <a:r>
              <a:rPr lang="en-US" sz="2670" dirty="0"/>
              <a:t>• Curated Instagram posts from January 2018</a:t>
            </a:r>
          </a:p>
          <a:p>
            <a:pPr>
              <a:buNone/>
            </a:pPr>
            <a:r>
              <a:rPr lang="en-US" sz="2670" dirty="0"/>
              <a:t>geotagged from Brick Lane, East London </a:t>
            </a:r>
          </a:p>
          <a:p>
            <a:pPr>
              <a:buNone/>
            </a:pPr>
            <a:r>
              <a:rPr lang="en-US" sz="2670" dirty="0"/>
              <a:t>• Total posts collected: 11,673</a:t>
            </a:r>
          </a:p>
          <a:p>
            <a:pPr>
              <a:buNone/>
            </a:pPr>
            <a:r>
              <a:rPr lang="en-US" sz="2670" dirty="0"/>
              <a:t>• Metadata columns: 23 (visual content, captions, hashtags,   engagement metrics, location data, user details)</a:t>
            </a:r>
          </a:p>
          <a:p>
            <a:pPr>
              <a:buNone/>
            </a:pPr>
            <a:r>
              <a:rPr lang="en-US" sz="2670" dirty="0"/>
              <a:t>• Images: 10,533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70" dirty="0"/>
              <a:t> Data collection via Instagram scraping tools and verified using geolocation tags.</a:t>
            </a:r>
          </a:p>
          <a:p>
            <a:pPr>
              <a:buNone/>
            </a:pPr>
            <a:endParaRPr lang="en-US" sz="2670" b="1" dirty="0"/>
          </a:p>
          <a:p>
            <a:pPr>
              <a:buNone/>
            </a:pPr>
            <a:r>
              <a:rPr lang="en-US" sz="2670" b="1" dirty="0"/>
              <a:t>AI Analysis</a:t>
            </a:r>
          </a:p>
          <a:p>
            <a:pPr>
              <a:buNone/>
            </a:pPr>
            <a:r>
              <a:rPr lang="en-US" sz="2670" dirty="0"/>
              <a:t>• Utilized pretrained generative AI models (CLIP, DALL-E) for image classification and visual content interpretation. </a:t>
            </a:r>
          </a:p>
          <a:p>
            <a:pPr>
              <a:buNone/>
            </a:pPr>
            <a:r>
              <a:rPr lang="en-US" sz="2670" dirty="0"/>
              <a:t>• Applied Natural Language Processing (NLP) to analyze textual content in captions and hashtags for thematic context </a:t>
            </a:r>
          </a:p>
          <a:p>
            <a:pPr>
              <a:buNone/>
            </a:pPr>
            <a:r>
              <a:rPr lang="en-US" sz="2670" dirty="0"/>
              <a:t>• Identified the central geographic point (centroid) for Brick Lane at coordinates (51.519938, -0.072529). Then conducted a spatial analysis to evaluate whether the accuracy of AI classifications varied based on how far individual Instagram posts were located from this central point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2752994-9991-BE42-BBC8-295FB4D085F9}"/>
              </a:ext>
            </a:extLst>
          </p:cNvPr>
          <p:cNvSpPr txBox="1"/>
          <p:nvPr/>
        </p:nvSpPr>
        <p:spPr>
          <a:xfrm>
            <a:off x="33662905" y="8005373"/>
            <a:ext cx="8701309" cy="11597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670" b="1" dirty="0"/>
              <a:t> Preliminary insights revealed significant issues in initial AI categorizations: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70" dirty="0"/>
              <a:t> Street art misclassified as commercial advertising or urban decay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70" dirty="0"/>
              <a:t> Alternative fashion styles initially labeled inaccurately as subversive or non-mainstream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670" dirty="0"/>
          </a:p>
          <a:p>
            <a:r>
              <a:rPr lang="en-US" sz="2670" b="1" dirty="0"/>
              <a:t>Upon deeper quantitative analysis: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70" dirty="0"/>
              <a:t> Overall GenAI misclassification rate: 34% for street art images inaccurately labeled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70" dirty="0"/>
              <a:t> Significant inaccuracies in fashion categorization: 42% misclassification rate for alternative and subcultural fashion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670" dirty="0"/>
          </a:p>
          <a:p>
            <a:r>
              <a:rPr lang="en-US" sz="2670" b="1" dirty="0"/>
              <a:t>Spatial accuracy analysis: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70" dirty="0"/>
              <a:t> Posts within 0.5 km of centroid: 76% accuracy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70" dirty="0"/>
              <a:t> Accuracy declines sharply to 55% for posts beyond 1 km from centroid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670" dirty="0"/>
          </a:p>
          <a:p>
            <a:r>
              <a:rPr lang="en-US" sz="2670" b="1" dirty="0"/>
              <a:t>Ethical issues quantified: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70" dirty="0"/>
              <a:t> Commodification concerns identified in 27% of analyzed visual content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70" dirty="0"/>
              <a:t> User privacy risks highlighted in approximately 30% of content due to lack of explicit consent </a:t>
            </a:r>
          </a:p>
          <a:p>
            <a:r>
              <a:rPr lang="en-US" sz="2670" dirty="0"/>
              <a:t>• Marginalization of non-commercial artistic expressions occurred in 40% of analyzed cases </a:t>
            </a:r>
          </a:p>
          <a:p>
            <a:r>
              <a:rPr lang="en-US" sz="2670" dirty="0"/>
              <a:t>• Approximately 60% of biases originated from commercially skewed training datasets</a:t>
            </a:r>
          </a:p>
          <a:p>
            <a:endParaRPr lang="en-US" sz="267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3CF81FE-6622-7448-9CB3-CF574308A5CB}"/>
              </a:ext>
            </a:extLst>
          </p:cNvPr>
          <p:cNvSpPr txBox="1"/>
          <p:nvPr/>
        </p:nvSpPr>
        <p:spPr>
          <a:xfrm>
            <a:off x="12377739" y="20943115"/>
            <a:ext cx="19307284" cy="7899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670" b="1" dirty="0"/>
              <a:t>GenAI significantly shapes visual social media interpretations, with critical implications for cultural representation and user privacy</a:t>
            </a:r>
          </a:p>
          <a:p>
            <a:pPr>
              <a:buNone/>
            </a:pPr>
            <a:r>
              <a:rPr lang="en-US" sz="267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70" dirty="0"/>
              <a:t> Persistent biases toward commercial and mainstream aesthetics due to training datasets, impacting cultural representation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70" dirty="0"/>
              <a:t> Ethical concerns about GenAI-driven misrepresentation of urban cultural identities, potentially distorting authentic local narratives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70" dirty="0"/>
              <a:t> Privacy vulnerabilities arising from GenAI’s ability to process and potentially misuse personal imagery without explicit user consent, raising concerns about data protection and personal autonomy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70" dirty="0"/>
              <a:t> Variability in AI accuracy linked to spatial proximity, indicating the significance of location context in enhancing or diminishing model accuracy. </a:t>
            </a:r>
          </a:p>
          <a:p>
            <a:endParaRPr lang="en-US" sz="2670" b="1" dirty="0"/>
          </a:p>
          <a:p>
            <a:r>
              <a:rPr lang="en-US" sz="2670" b="1" dirty="0"/>
              <a:t>Bias and Ethical Assessment involved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70" dirty="0"/>
              <a:t> Comparative analysis between GenAI results and human-annotated classifications to detect biases and inaccuracies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70" dirty="0"/>
              <a:t> Evaluating ethical dimensions, including user consent and privacy risks associated with automated content analysis </a:t>
            </a:r>
          </a:p>
          <a:p>
            <a:endParaRPr lang="en-US" sz="2670" b="1" dirty="0"/>
          </a:p>
          <a:p>
            <a:r>
              <a:rPr lang="en-US" sz="2670" b="1" dirty="0"/>
              <a:t>The research underscores the necessity of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70" dirty="0"/>
              <a:t> Developing comprehensive ethical frameworks and transparent privacy standards that guide responsible GenAI use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70" dirty="0"/>
              <a:t> Incorporating robust accountability mechanisms within GenAI systems to ensure ethical practices and prevent misuse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70" dirty="0"/>
              <a:t> Advocating for culturally informed, privacy-conscious AI policies that reflect community values and safeguard individual rights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70" dirty="0"/>
              <a:t> Promoting public awareness and understanding regarding GenAI applications to facilitate informed community engagement.</a:t>
            </a:r>
          </a:p>
          <a:p>
            <a:endParaRPr lang="en-US" sz="267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37B49C-B9DA-AAC7-9ACA-E352E86919D4}"/>
              </a:ext>
            </a:extLst>
          </p:cNvPr>
          <p:cNvSpPr txBox="1"/>
          <p:nvPr/>
        </p:nvSpPr>
        <p:spPr>
          <a:xfrm>
            <a:off x="9239882" y="1569791"/>
            <a:ext cx="245805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/>
              <a:t>An Ethical and Privacy-focused Analysis of Urban Location-Based Social Media Using Generative AI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529CA6-8AA8-C4E9-5CE9-865FA9B2E7EE}"/>
              </a:ext>
            </a:extLst>
          </p:cNvPr>
          <p:cNvSpPr txBox="1"/>
          <p:nvPr/>
        </p:nvSpPr>
        <p:spPr>
          <a:xfrm>
            <a:off x="9535813" y="4235118"/>
            <a:ext cx="234607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Sonali Hornick </a:t>
            </a:r>
            <a:r>
              <a:rPr lang="en-US" sz="4000" baseline="30000" dirty="0">
                <a:latin typeface="Arial" panose="020B0604020202020204" pitchFamily="34" charset="0"/>
                <a:cs typeface="Arial" panose="020B0604020202020204" pitchFamily="34" charset="0"/>
              </a:rPr>
              <a:t>1,2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, Dhiraj Murthy </a:t>
            </a:r>
            <a:r>
              <a:rPr lang="en-US" sz="4000" baseline="30000" dirty="0">
                <a:latin typeface="Arial" panose="020B0604020202020204" pitchFamily="34" charset="0"/>
                <a:cs typeface="Arial" panose="020B0604020202020204" pitchFamily="34" charset="0"/>
              </a:rPr>
              <a:t>1,3</a:t>
            </a:r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baseline="30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Computational Media Lab, </a:t>
            </a:r>
            <a:r>
              <a:rPr lang="en-US" sz="4000" baseline="30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McCombs School of Business, </a:t>
            </a:r>
            <a:r>
              <a:rPr lang="en-US" sz="4000" baseline="30000" dirty="0">
                <a:latin typeface="Arial" panose="020B0604020202020204" pitchFamily="34" charset="0"/>
                <a:cs typeface="Arial" panose="020B0604020202020204" pitchFamily="34" charset="0"/>
              </a:rPr>
              <a:t>3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Moody College of Communication</a:t>
            </a:r>
          </a:p>
        </p:txBody>
      </p:sp>
      <p:pic>
        <p:nvPicPr>
          <p:cNvPr id="7" name="Picture 6" descr="A black background with orange and grey letters">
            <a:extLst>
              <a:ext uri="{FF2B5EF4-FFF2-40B4-BE49-F238E27FC236}">
                <a16:creationId xmlns:a16="http://schemas.microsoft.com/office/drawing/2014/main" id="{FC1D8B76-6F2D-8183-0E6B-E65C110F6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2573" y="1143000"/>
            <a:ext cx="6577083" cy="3392868"/>
          </a:xfrm>
          <a:prstGeom prst="rect">
            <a:avLst/>
          </a:prstGeom>
        </p:spPr>
      </p:pic>
      <p:pic>
        <p:nvPicPr>
          <p:cNvPr id="8" name="Picture 7" descr="A black and orange text&#10;&#10;Description automatically generated">
            <a:extLst>
              <a:ext uri="{FF2B5EF4-FFF2-40B4-BE49-F238E27FC236}">
                <a16:creationId xmlns:a16="http://schemas.microsoft.com/office/drawing/2014/main" id="{88D66A72-787F-5F5F-3E6B-F90500474C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2573" y="4978406"/>
            <a:ext cx="5320127" cy="13594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2F41EC-46A1-D234-F0AE-97B779D5F3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22459" y="8693675"/>
            <a:ext cx="5575587" cy="55628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E50F0EA-8190-167F-65D8-4392AC50CA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22999" y="14593841"/>
            <a:ext cx="5775047" cy="565597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193D6F1-B4BA-DBEE-9787-BC2CD47A5B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858506" y="8693675"/>
            <a:ext cx="5575587" cy="551737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BBDC055-7C98-FF80-F37F-C9F4158ABE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761412" y="14593841"/>
            <a:ext cx="5575587" cy="570141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DDCF6B8-7F35-E3B5-4189-0EBE8C2B038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221556" y="8693676"/>
            <a:ext cx="5691064" cy="556288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D287A48-0190-A0B0-7188-DC54B51B090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368346" y="14590943"/>
            <a:ext cx="5544274" cy="5655160"/>
          </a:xfrm>
          <a:prstGeom prst="rect">
            <a:avLst/>
          </a:prstGeom>
        </p:spPr>
      </p:pic>
      <p:pic>
        <p:nvPicPr>
          <p:cNvPr id="1026" name="Picture 2" descr="Moody College of Communication - Center for Media Engagement - Center for  Media Engagement">
            <a:extLst>
              <a:ext uri="{FF2B5EF4-FFF2-40B4-BE49-F238E27FC236}">
                <a16:creationId xmlns:a16="http://schemas.microsoft.com/office/drawing/2014/main" id="{679580B9-74BB-92A9-73C1-B23A56A195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72512" y="2251947"/>
            <a:ext cx="9525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he University of Texas at Austin, McCombs School of Business – The  Consortium">
            <a:extLst>
              <a:ext uri="{FF2B5EF4-FFF2-40B4-BE49-F238E27FC236}">
                <a16:creationId xmlns:a16="http://schemas.microsoft.com/office/drawing/2014/main" id="{FD79020B-EB6E-27A5-E429-19A19F239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12258" y="263910"/>
            <a:ext cx="10666188" cy="3708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ounded Rectangle 38">
            <a:extLst>
              <a:ext uri="{FF2B5EF4-FFF2-40B4-BE49-F238E27FC236}">
                <a16:creationId xmlns:a16="http://schemas.microsoft.com/office/drawing/2014/main" id="{473397DD-2F5E-0A3E-3B83-26340225C619}"/>
              </a:ext>
            </a:extLst>
          </p:cNvPr>
          <p:cNvSpPr/>
          <p:nvPr/>
        </p:nvSpPr>
        <p:spPr>
          <a:xfrm>
            <a:off x="33312259" y="27063417"/>
            <a:ext cx="9402604" cy="3797583"/>
          </a:xfrm>
          <a:prstGeom prst="roundRect">
            <a:avLst>
              <a:gd name="adj" fmla="val 10224"/>
            </a:avLst>
          </a:prstGeom>
          <a:noFill/>
          <a:ln w="101600">
            <a:solidFill>
              <a:srgbClr val="BF57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976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52">
            <a:extLst>
              <a:ext uri="{FF2B5EF4-FFF2-40B4-BE49-F238E27FC236}">
                <a16:creationId xmlns:a16="http://schemas.microsoft.com/office/drawing/2014/main" id="{379B5099-A718-BF77-1059-2137247B2EB1}"/>
              </a:ext>
            </a:extLst>
          </p:cNvPr>
          <p:cNvSpPr/>
          <p:nvPr/>
        </p:nvSpPr>
        <p:spPr>
          <a:xfrm>
            <a:off x="34235949" y="26573297"/>
            <a:ext cx="7577667" cy="1170214"/>
          </a:xfrm>
          <a:prstGeom prst="roundRect">
            <a:avLst/>
          </a:prstGeom>
          <a:solidFill>
            <a:srgbClr val="BF5700"/>
          </a:solidFill>
          <a:ln w="101600">
            <a:solidFill>
              <a:srgbClr val="BF57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b="1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endParaRPr lang="en-US" sz="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4A80EE-FA2F-216E-45E4-8B3888AF2C4E}"/>
              </a:ext>
            </a:extLst>
          </p:cNvPr>
          <p:cNvSpPr txBox="1"/>
          <p:nvPr/>
        </p:nvSpPr>
        <p:spPr>
          <a:xfrm>
            <a:off x="33685352" y="27962942"/>
            <a:ext cx="8545797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dirty="0"/>
              <a:t>• Binns, R., Veale, M., Van </a:t>
            </a:r>
            <a:r>
              <a:rPr lang="en-US" sz="1900" dirty="0" err="1"/>
              <a:t>Kleek</a:t>
            </a:r>
            <a:r>
              <a:rPr lang="en-US" sz="1900" dirty="0"/>
              <a:t>, M., &amp; Shadbolt, N. (2018). 'It's reducing a human being to a percentage': Perceptions of justice in algorithmic decisions. </a:t>
            </a:r>
            <a:r>
              <a:rPr lang="en-US" sz="1900" i="1" dirty="0"/>
              <a:t>Proceedings of the 2018 CHI Conference on Human Factors in Computing Systems</a:t>
            </a:r>
            <a:r>
              <a:rPr lang="en-US" sz="1900" dirty="0"/>
              <a:t>. </a:t>
            </a:r>
          </a:p>
          <a:p>
            <a:r>
              <a:rPr lang="en-US" sz="1900" dirty="0"/>
              <a:t>• Miles, M. (2018). Cities and literature. </a:t>
            </a:r>
            <a:r>
              <a:rPr lang="en-US" sz="1900" i="1" dirty="0"/>
              <a:t>Urban Studies</a:t>
            </a:r>
            <a:r>
              <a:rPr lang="en-US" sz="1900" dirty="0"/>
              <a:t>, 55(4), 721-736. </a:t>
            </a:r>
          </a:p>
          <a:p>
            <a:r>
              <a:rPr lang="en-US" sz="1900" dirty="0"/>
              <a:t>• Noble, S. U. (2018). Algorithms of oppression: How search engines reinforce racism. NYU Press. </a:t>
            </a:r>
          </a:p>
          <a:p>
            <a:r>
              <a:rPr lang="en-US" sz="1900" dirty="0"/>
              <a:t>• Rocamora, A. (2016). Mediating fashion culture: Digital and urban dimensions. </a:t>
            </a:r>
            <a:r>
              <a:rPr lang="en-US" sz="1900" i="1" dirty="0"/>
              <a:t>Fashion Theory</a:t>
            </a:r>
            <a:r>
              <a:rPr lang="en-US" sz="1900" dirty="0"/>
              <a:t>, 20(4), 505-522. </a:t>
            </a:r>
          </a:p>
          <a:p>
            <a:r>
              <a:rPr lang="en-US" sz="1900" dirty="0"/>
              <a:t>• Schacter, R. (2013). The world atlas of street art and graffiti. Yale University Press.</a:t>
            </a:r>
          </a:p>
          <a:p>
            <a:endParaRPr lang="en-US" sz="1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2E0DF76-2342-9F4C-D2BA-DBDE8070C8C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424405" y="28581298"/>
            <a:ext cx="18889827" cy="219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90524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FOUR COLUMN - 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8421</TotalTime>
  <Words>979</Words>
  <Application>Microsoft Office PowerPoint</Application>
  <PresentationFormat>Custom</PresentationFormat>
  <Paragraphs>73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FOUR COLUMN - 1</vt:lpstr>
      <vt:lpstr>Custom Design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Luecke, Jenna C</dc:creator>
  <cp:lastModifiedBy>Sonali Hornick</cp:lastModifiedBy>
  <cp:revision>111</cp:revision>
  <cp:lastPrinted>2018-10-04T13:58:04Z</cp:lastPrinted>
  <dcterms:created xsi:type="dcterms:W3CDTF">2018-05-04T16:01:53Z</dcterms:created>
  <dcterms:modified xsi:type="dcterms:W3CDTF">2025-03-24T23:28:53Z</dcterms:modified>
</cp:coreProperties>
</file>